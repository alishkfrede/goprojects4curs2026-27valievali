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85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51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134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189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05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69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97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22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842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754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24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11F62-FAC6-4BD0-B1C8-7C530E59F8B7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5D5FB-F801-4441-AAEA-2BAD362460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6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400" b="1" dirty="0"/>
              <a:t>Архитектура</a:t>
            </a:r>
            <a:r>
              <a:rPr lang="ru-RU" sz="4400" dirty="0"/>
              <a:t/>
            </a:r>
            <a:br>
              <a:rPr lang="ru-RU" sz="4400" dirty="0"/>
            </a:br>
            <a:r>
              <a:rPr lang="en-US" sz="4400" b="1" dirty="0"/>
              <a:t>Retrieval-Augmented Generation (RAG)</a:t>
            </a:r>
            <a:r>
              <a:rPr lang="ru-RU" sz="4400" dirty="0"/>
              <a:t/>
            </a:r>
            <a:br>
              <a:rPr lang="ru-RU" sz="4400" dirty="0"/>
            </a:b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 smtClean="0"/>
              <a:t>Каськов</a:t>
            </a:r>
            <a:r>
              <a:rPr lang="ru-RU" dirty="0" smtClean="0"/>
              <a:t> Степан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436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что такое</a:t>
            </a:r>
            <a:r>
              <a:rPr lang="en-US" sz="4000" dirty="0"/>
              <a:t> Retrieval-Augmented Generation (RAG</a:t>
            </a:r>
            <a:r>
              <a:rPr lang="en-US" sz="4000" dirty="0" smtClean="0"/>
              <a:t>),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Retrieval</a:t>
            </a:r>
            <a:r>
              <a:rPr lang="ru-RU" dirty="0"/>
              <a:t> - поиск и извлечение релевантной информации. Часть системы, которая отвечает за поиск и извлечение информации, так и называют — </a:t>
            </a:r>
            <a:r>
              <a:rPr lang="ru-RU" dirty="0" err="1"/>
              <a:t>ретривер</a:t>
            </a:r>
            <a:r>
              <a:rPr lang="ru-RU" dirty="0"/>
              <a:t> (</a:t>
            </a:r>
            <a:r>
              <a:rPr lang="ru-RU" dirty="0" err="1"/>
              <a:t>retriever</a:t>
            </a:r>
            <a:r>
              <a:rPr lang="ru-RU" dirty="0"/>
              <a:t>).</a:t>
            </a:r>
          </a:p>
          <a:p>
            <a:r>
              <a:rPr lang="ru-RU" b="1" dirty="0" err="1"/>
              <a:t>Retrieval</a:t>
            </a:r>
            <a:r>
              <a:rPr lang="ru-RU" b="1" dirty="0"/>
              <a:t> </a:t>
            </a:r>
            <a:r>
              <a:rPr lang="ru-RU" b="1" dirty="0" err="1"/>
              <a:t>Augmented</a:t>
            </a:r>
            <a:r>
              <a:rPr lang="ru-RU" b="1" dirty="0"/>
              <a:t> </a:t>
            </a:r>
            <a:r>
              <a:rPr lang="ru-RU" dirty="0"/>
              <a:t>— дополнение запроса пользователя найденной релевантной информацией.</a:t>
            </a:r>
          </a:p>
          <a:p>
            <a:r>
              <a:rPr lang="ru-RU" b="1" dirty="0" err="1"/>
              <a:t>Retrieval</a:t>
            </a:r>
            <a:r>
              <a:rPr lang="ru-RU" b="1" dirty="0"/>
              <a:t> </a:t>
            </a:r>
            <a:r>
              <a:rPr lang="ru-RU" b="1" dirty="0" err="1"/>
              <a:t>Augmented</a:t>
            </a:r>
            <a:r>
              <a:rPr lang="ru-RU" b="1" dirty="0"/>
              <a:t> </a:t>
            </a:r>
            <a:r>
              <a:rPr lang="ru-RU" b="1" dirty="0" err="1"/>
              <a:t>Generation</a:t>
            </a:r>
            <a:r>
              <a:rPr lang="ru-RU" dirty="0"/>
              <a:t> — генерация ответа пользователю с учетом дополнительно найденной релевантной информации.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025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что такое</a:t>
            </a:r>
            <a:r>
              <a:rPr lang="en-US" sz="4000" dirty="0"/>
              <a:t> Retrieval-Augmented Generation (RAG</a:t>
            </a:r>
            <a:r>
              <a:rPr lang="en-US" sz="4000" dirty="0" smtClean="0"/>
              <a:t>),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 В зависимости от того, какой вопрос задал пользователь </a:t>
            </a:r>
            <a:r>
              <a:rPr lang="ru-RU" dirty="0" smtClean="0"/>
              <a:t>RAG </a:t>
            </a:r>
            <a:r>
              <a:rPr lang="ru-RU" dirty="0"/>
              <a:t>система должна найти соответствующую статью в базе знаний, и подать на вход LLM не только вопрос пользователя, но и релевантную запросу часть содержимого базы знаний, чтобы LLM могла сформировать правильный ответ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/>
              <a:t>Таким образом фраза </a:t>
            </a:r>
            <a:r>
              <a:rPr lang="ru-RU" dirty="0" err="1"/>
              <a:t>Retrieval</a:t>
            </a:r>
            <a:r>
              <a:rPr lang="ru-RU" dirty="0"/>
              <a:t> </a:t>
            </a:r>
            <a:r>
              <a:rPr lang="ru-RU" dirty="0" err="1"/>
              <a:t>Augmented</a:t>
            </a:r>
            <a:r>
              <a:rPr lang="ru-RU" dirty="0"/>
              <a:t> </a:t>
            </a:r>
            <a:r>
              <a:rPr lang="ru-RU" dirty="0" err="1"/>
              <a:t>Generation</a:t>
            </a:r>
            <a:r>
              <a:rPr lang="ru-RU" dirty="0"/>
              <a:t> как нельзя более точно описывает суть происходящего</a:t>
            </a:r>
          </a:p>
        </p:txBody>
      </p:sp>
    </p:spTree>
    <p:extLst>
      <p:ext uri="{BB962C8B-B14F-4D97-AF65-F5344CB8AC3E}">
        <p14:creationId xmlns:p14="http://schemas.microsoft.com/office/powerpoint/2010/main" val="3173690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почему такая архитектура необходима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RAG — это комплексная архитектура, а не единый алгоритм</a:t>
            </a:r>
            <a:r>
              <a:rPr lang="ru-RU" dirty="0"/>
              <a:t>. Она включает три ключевых компонента: подготовка данных (</a:t>
            </a:r>
            <a:r>
              <a:rPr lang="ru-RU" dirty="0" err="1"/>
              <a:t>ингест</a:t>
            </a:r>
            <a:r>
              <a:rPr lang="ru-RU" dirty="0"/>
              <a:t> и индексирование знаний), модуль поиска (</a:t>
            </a:r>
            <a:r>
              <a:rPr lang="ru-RU" dirty="0" err="1"/>
              <a:t>retriever</a:t>
            </a:r>
            <a:r>
              <a:rPr lang="ru-RU" dirty="0"/>
              <a:t>) и модуль генерации ответа с LLM. Успех системы требует слаженной работы всех частей: и качественного индекса (векторной базы), и хорошо настроенного поиска, и </a:t>
            </a:r>
            <a:r>
              <a:rPr lang="ru-RU" dirty="0" smtClean="0"/>
              <a:t>продуманного </a:t>
            </a:r>
            <a:r>
              <a:rPr lang="ru-RU" dirty="0" err="1"/>
              <a:t>промпта</a:t>
            </a:r>
            <a:r>
              <a:rPr lang="ru-RU" dirty="0"/>
              <a:t> для </a:t>
            </a:r>
            <a:r>
              <a:rPr lang="ru-RU" dirty="0" smtClean="0"/>
              <a:t>генерации</a:t>
            </a:r>
          </a:p>
          <a:p>
            <a:r>
              <a:rPr lang="ru-RU" b="1" dirty="0" smtClean="0"/>
              <a:t>Главное </a:t>
            </a:r>
            <a:r>
              <a:rPr lang="ru-RU" b="1" dirty="0"/>
              <a:t>преимущество RAG — повышение фактической точности и динамичности ответов</a:t>
            </a:r>
            <a:r>
              <a:rPr lang="ru-RU" dirty="0"/>
              <a:t>. За счет подключения к внешним данным RAG‑модели дают более достоверные и подкрепленные ответы, существенно снижая проблему «галлюцинаций» по сравнению с обычными LLM. Модель в каждом ответе опирается на свежие сведения, что особенно важно в быстро меняющихся областях знаний. RAG фактически превращает статичную LLM в систему с </a:t>
            </a:r>
            <a:r>
              <a:rPr lang="ru-RU" i="1" dirty="0"/>
              <a:t>непараметрической памятью</a:t>
            </a:r>
            <a:r>
              <a:rPr lang="ru-RU" dirty="0"/>
              <a:t>, которую можно обновлять на лету.</a:t>
            </a:r>
          </a:p>
        </p:txBody>
      </p:sp>
    </p:spTree>
    <p:extLst>
      <p:ext uri="{BB962C8B-B14F-4D97-AF65-F5344CB8AC3E}">
        <p14:creationId xmlns:p14="http://schemas.microsoft.com/office/powerpoint/2010/main" val="206239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почему такая архитектура необходима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RAG позволяет эффективно использовать более компактные модели, т.к. им уже не нужно «помнить все». Вместо гигантского 70-миллиардного LLM, которому скормили все знания, можно взять модель на 7 млрд и дать ей нужные документы — и она справится не хуже на конкретном ответе. Это открывает дорогу внедрению локальных решений без облака и снижает расходы (</a:t>
            </a:r>
            <a:r>
              <a:rPr lang="ru-RU" dirty="0" err="1"/>
              <a:t>fine‑tuning</a:t>
            </a:r>
            <a:r>
              <a:rPr lang="ru-RU" dirty="0"/>
              <a:t> и хостинг большой модели зачастую дороже, чем запросы к среднему API + хранение данных). В перспективе RAG может стать стандартным слоем над любыми LLM: модель — для языкового интеллекта, RAG‑надстройка — для знаний.</a:t>
            </a:r>
          </a:p>
        </p:txBody>
      </p:sp>
    </p:spTree>
    <p:extLst>
      <p:ext uri="{BB962C8B-B14F-4D97-AF65-F5344CB8AC3E}">
        <p14:creationId xmlns:p14="http://schemas.microsoft.com/office/powerpoint/2010/main" val="2867216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 каких этапов состоит система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основе любого </a:t>
            </a:r>
            <a:r>
              <a:rPr lang="ru-RU" b="1" dirty="0"/>
              <a:t>RAG</a:t>
            </a:r>
            <a:r>
              <a:rPr lang="ru-RU" dirty="0"/>
              <a:t>-решения лежат два фундаментальных компонента, работающих в тандеме. Каждый из них выполняет свою уникальную, но взаимодополняющую функцию. Понимание их ролей — ключ к пониманию всей архитектуры.</a:t>
            </a:r>
          </a:p>
          <a:p>
            <a:r>
              <a:rPr lang="ru-RU" b="1" dirty="0" err="1"/>
              <a:t>Ретривер</a:t>
            </a:r>
            <a:r>
              <a:rPr lang="ru-RU" b="1" dirty="0"/>
              <a:t> (</a:t>
            </a:r>
            <a:r>
              <a:rPr lang="en-US" b="1" dirty="0"/>
              <a:t>The Retriever</a:t>
            </a:r>
            <a:r>
              <a:rPr lang="en-US" b="1" dirty="0" smtClean="0"/>
              <a:t>)</a:t>
            </a:r>
          </a:p>
          <a:p>
            <a:r>
              <a:rPr lang="ru-RU" b="1" dirty="0"/>
              <a:t>Генератор (</a:t>
            </a:r>
            <a:r>
              <a:rPr lang="en-US" b="1" dirty="0"/>
              <a:t>The Generator</a:t>
            </a:r>
            <a:r>
              <a:rPr lang="en-US" b="1" dirty="0" smtClean="0"/>
              <a:t>)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27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Ретривер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Его задача — не генерировать текст, а эффективно и быстро находить наиболее релевантную информацию в огромном массиве данных в ответ на запрос пользователя. Процесс его работы обычно включает несколько </a:t>
            </a:r>
            <a:r>
              <a:rPr lang="ru-RU" dirty="0" smtClean="0"/>
              <a:t>этапов</a:t>
            </a:r>
          </a:p>
          <a:p>
            <a:r>
              <a:rPr lang="ru-RU" b="1" dirty="0"/>
              <a:t>Индексация:</a:t>
            </a:r>
            <a:r>
              <a:rPr lang="ru-RU" dirty="0"/>
              <a:t> Все внешние документы (статьи, PDF-файлы, записи в базе данных) загружаются, разбиваются на логические фрагменты (</a:t>
            </a:r>
            <a:r>
              <a:rPr lang="ru-RU" dirty="0" err="1"/>
              <a:t>чанки</a:t>
            </a:r>
            <a:r>
              <a:rPr lang="ru-RU" dirty="0"/>
              <a:t>) и преобразуются в числовые представления — векторы (</a:t>
            </a:r>
            <a:r>
              <a:rPr lang="ru-RU" dirty="0" err="1"/>
              <a:t>embeddings</a:t>
            </a:r>
            <a:r>
              <a:rPr lang="ru-RU" dirty="0"/>
              <a:t>).</a:t>
            </a:r>
          </a:p>
          <a:p>
            <a:r>
              <a:rPr lang="ru-RU" b="1" dirty="0"/>
              <a:t>Хранение:</a:t>
            </a:r>
            <a:r>
              <a:rPr lang="ru-RU" dirty="0"/>
              <a:t> Эти векторы хранятся в специализированной векторной базе данных (например, </a:t>
            </a:r>
            <a:r>
              <a:rPr lang="ru-RU" dirty="0" err="1"/>
              <a:t>Pinecone</a:t>
            </a:r>
            <a:r>
              <a:rPr lang="ru-RU" dirty="0"/>
              <a:t>, </a:t>
            </a:r>
            <a:r>
              <a:rPr lang="ru-RU" dirty="0" err="1"/>
              <a:t>Weaviate</a:t>
            </a:r>
            <a:r>
              <a:rPr lang="ru-RU" dirty="0"/>
              <a:t>, </a:t>
            </a:r>
            <a:r>
              <a:rPr lang="ru-RU" dirty="0" err="1"/>
              <a:t>Chroma</a:t>
            </a:r>
            <a:r>
              <a:rPr lang="ru-RU" dirty="0"/>
              <a:t>), которая оптимизирована для сверхбыстрого поиска по сходству.</a:t>
            </a:r>
          </a:p>
          <a:p>
            <a:r>
              <a:rPr lang="ru-RU" b="1" dirty="0"/>
              <a:t>Поиск:</a:t>
            </a:r>
            <a:r>
              <a:rPr lang="ru-RU" dirty="0"/>
              <a:t> Когда поступает запрос пользователя, он также векторизуется, и </a:t>
            </a:r>
            <a:r>
              <a:rPr lang="ru-RU" dirty="0" err="1"/>
              <a:t>ретривер</a:t>
            </a:r>
            <a:r>
              <a:rPr lang="ru-RU" dirty="0"/>
              <a:t> ищет в базе данных те фрагменты документов, чьи векторы наиболее близки к вектору запроса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855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Генератор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RAG-архитектуре генератор получает не просто исходный вопрос пользователя, а «обогащенный» </a:t>
            </a:r>
            <a:r>
              <a:rPr lang="ru-RU" dirty="0" err="1"/>
              <a:t>промпт</a:t>
            </a:r>
            <a:r>
              <a:rPr lang="ru-RU" dirty="0"/>
              <a:t>. Этот </a:t>
            </a:r>
            <a:r>
              <a:rPr lang="ru-RU" dirty="0" err="1"/>
              <a:t>промпт</a:t>
            </a:r>
            <a:r>
              <a:rPr lang="ru-RU" dirty="0"/>
              <a:t> включает в себя как сам вопрос, так и фрагменты релевантной информации, найденные </a:t>
            </a:r>
            <a:r>
              <a:rPr lang="ru-RU" dirty="0" err="1"/>
              <a:t>ретривером</a:t>
            </a:r>
            <a:r>
              <a:rPr lang="ru-RU" dirty="0"/>
              <a:t>. Получив такую подробную инструкцию с фактическим материалом, LLM генерирует окончательный ответ, который является синтезом ее собственных лингвистических способностей и предоставленных ей конкретных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16209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 каких этапов состоит система</a:t>
            </a:r>
            <a:r>
              <a:rPr lang="en-US" dirty="0" smtClean="0"/>
              <a:t> (</a:t>
            </a:r>
            <a:r>
              <a:rPr lang="ru-RU" dirty="0" smtClean="0"/>
              <a:t>схема</a:t>
            </a:r>
            <a:r>
              <a:rPr lang="en-US" dirty="0" smtClean="0"/>
              <a:t>)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5441" y="1917065"/>
            <a:ext cx="8005803" cy="492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171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 каких этапов состоит система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Весь процесс работы </a:t>
            </a:r>
            <a:r>
              <a:rPr lang="ru-RU" b="1" dirty="0"/>
              <a:t>RAG</a:t>
            </a:r>
            <a:r>
              <a:rPr lang="ru-RU" dirty="0"/>
              <a:t>-системы можно разбить на четыре четких и последовательных шага. Эта цепочка превращает простой вопрос в подробный и фактически обоснованный ответ.</a:t>
            </a:r>
          </a:p>
          <a:p>
            <a:r>
              <a:rPr lang="ru-RU" b="1" dirty="0"/>
              <a:t>Запрос (</a:t>
            </a:r>
            <a:r>
              <a:rPr lang="ru-RU" b="1" dirty="0" err="1"/>
              <a:t>Query</a:t>
            </a:r>
            <a:r>
              <a:rPr lang="ru-RU" b="1" dirty="0"/>
              <a:t>):</a:t>
            </a:r>
            <a:r>
              <a:rPr lang="ru-RU" dirty="0"/>
              <a:t> Пользователь формулирует и отправляет свой вопрос в систему. Например: «Какие ключевые преимущества у архитектуры RAG?».</a:t>
            </a:r>
          </a:p>
          <a:p>
            <a:r>
              <a:rPr lang="ru-RU" b="1" dirty="0"/>
              <a:t>Извлечение (</a:t>
            </a:r>
            <a:r>
              <a:rPr lang="ru-RU" b="1" dirty="0" err="1"/>
              <a:t>Retrieval</a:t>
            </a:r>
            <a:r>
              <a:rPr lang="ru-RU" b="1" dirty="0"/>
              <a:t>):</a:t>
            </a:r>
            <a:r>
              <a:rPr lang="ru-RU" dirty="0"/>
              <a:t> Система не спешит отправлять этот вопрос напрямую в LLM. Сначала </a:t>
            </a:r>
            <a:r>
              <a:rPr lang="ru-RU" dirty="0" err="1"/>
              <a:t>ретривер</a:t>
            </a:r>
            <a:r>
              <a:rPr lang="ru-RU" dirty="0"/>
              <a:t> преобразует текст вопроса в вектор и выполняет поиск по векторной базе данных. Он находит несколько наиболее релевантных фрагментов текста из проиндексированных документов, которые с наибольшей вероятностью содержат ответ.</a:t>
            </a:r>
          </a:p>
          <a:p>
            <a:r>
              <a:rPr lang="ru-RU" b="1" dirty="0"/>
              <a:t>Аугментация (</a:t>
            </a:r>
            <a:r>
              <a:rPr lang="ru-RU" b="1" dirty="0" err="1"/>
              <a:t>Augmentation</a:t>
            </a:r>
            <a:r>
              <a:rPr lang="ru-RU" b="1" dirty="0"/>
              <a:t>):</a:t>
            </a:r>
            <a:r>
              <a:rPr lang="ru-RU" dirty="0"/>
              <a:t> На этом ключевом этапе происходит «обогащение» </a:t>
            </a:r>
            <a:r>
              <a:rPr lang="ru-RU" dirty="0" err="1"/>
              <a:t>промпта</a:t>
            </a:r>
            <a:r>
              <a:rPr lang="ru-RU" dirty="0"/>
              <a:t>. Система формирует новый, расширенный </a:t>
            </a:r>
            <a:r>
              <a:rPr lang="ru-RU" dirty="0" err="1"/>
              <a:t>промпт</a:t>
            </a:r>
            <a:r>
              <a:rPr lang="ru-RU" dirty="0"/>
              <a:t> для языковой модели. Он обычно имеет следующую структуру: «Используя следующий контекст: [здесь вставляются фрагменты, найденные </a:t>
            </a:r>
            <a:r>
              <a:rPr lang="ru-RU" dirty="0" err="1"/>
              <a:t>ретривером</a:t>
            </a:r>
            <a:r>
              <a:rPr lang="ru-RU" dirty="0"/>
              <a:t>], ответь на вопрос пользователя: [здесь вставляется исходный вопрос]».</a:t>
            </a:r>
          </a:p>
          <a:p>
            <a:r>
              <a:rPr lang="ru-RU" b="1" dirty="0"/>
              <a:t>Генерация (</a:t>
            </a:r>
            <a:r>
              <a:rPr lang="ru-RU" b="1" dirty="0" err="1"/>
              <a:t>Generation</a:t>
            </a:r>
            <a:r>
              <a:rPr lang="ru-RU" b="1" dirty="0"/>
              <a:t>):</a:t>
            </a:r>
            <a:r>
              <a:rPr lang="ru-RU" dirty="0"/>
              <a:t> Обогащенный </a:t>
            </a:r>
            <a:r>
              <a:rPr lang="ru-RU" dirty="0" err="1"/>
              <a:t>промпт</a:t>
            </a:r>
            <a:r>
              <a:rPr lang="ru-RU" dirty="0"/>
              <a:t> отправляется в LLM (генератор). Модель анализирует предоставленный контекст и на его основе формулирует связный и точный ответ. Таким образом, ответ генерируется не из абстрактных «воспоминаний» модели, а на основе конкретных, поданных ей на вход фактов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41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какие инженерные ограничения она решает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Используя LLM, </a:t>
            </a:r>
            <a:r>
              <a:rPr lang="ru-RU" dirty="0" smtClean="0"/>
              <a:t>давно стало заметно </a:t>
            </a:r>
            <a:r>
              <a:rPr lang="ru-RU" dirty="0"/>
              <a:t>очевидное: память модели заканчивается датой последнего обучения, а все новое остается за кадром. </a:t>
            </a:r>
            <a:r>
              <a:rPr lang="ru-RU" dirty="0" err="1"/>
              <a:t>Retrieval</a:t>
            </a:r>
            <a:r>
              <a:rPr lang="ru-RU" dirty="0"/>
              <a:t> </a:t>
            </a:r>
            <a:r>
              <a:rPr lang="ru-RU" dirty="0" err="1"/>
              <a:t>Augmented</a:t>
            </a:r>
            <a:r>
              <a:rPr lang="ru-RU" dirty="0"/>
              <a:t> </a:t>
            </a:r>
            <a:r>
              <a:rPr lang="ru-RU" dirty="0" err="1"/>
              <a:t>Generation</a:t>
            </a:r>
            <a:r>
              <a:rPr lang="ru-RU" dirty="0"/>
              <a:t> (RAG) решает эту проблему: вытаскивает свежие документы из баз или интернета, подмешивает их прямо в </a:t>
            </a:r>
            <a:r>
              <a:rPr lang="ru-RU" dirty="0" err="1"/>
              <a:t>промпт</a:t>
            </a:r>
            <a:r>
              <a:rPr lang="ru-RU" dirty="0"/>
              <a:t> и избавляет от затратного </a:t>
            </a:r>
            <a:r>
              <a:rPr lang="ru-RU" dirty="0" err="1"/>
              <a:t>fine‑tuning</a:t>
            </a:r>
            <a:r>
              <a:rPr lang="ru-RU" dirty="0"/>
              <a:t> </a:t>
            </a:r>
            <a:r>
              <a:rPr lang="ru-RU" dirty="0" smtClean="0"/>
              <a:t>модели.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839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какие инженерные ограничения она решает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Решает 3 проблемы</a:t>
            </a:r>
            <a:r>
              <a:rPr lang="en-US" dirty="0" smtClean="0"/>
              <a:t>:</a:t>
            </a:r>
          </a:p>
          <a:p>
            <a:r>
              <a:rPr lang="ru-RU" b="1" dirty="0"/>
              <a:t>Актуальность данных. </a:t>
            </a:r>
            <a:r>
              <a:rPr lang="ru-RU" dirty="0"/>
              <a:t>Модель видит свежие документы сразу после их загрузки. Переобучать LLM не нужно.</a:t>
            </a:r>
          </a:p>
          <a:p>
            <a:r>
              <a:rPr lang="ru-RU" b="1" dirty="0"/>
              <a:t>Фокус на сути. </a:t>
            </a:r>
            <a:r>
              <a:rPr lang="ru-RU" dirty="0"/>
              <a:t>Документы режем на </a:t>
            </a:r>
            <a:r>
              <a:rPr lang="ru-RU" dirty="0" err="1"/>
              <a:t>чанки</a:t>
            </a:r>
            <a:r>
              <a:rPr lang="ru-RU" dirty="0"/>
              <a:t>. В </a:t>
            </a:r>
            <a:r>
              <a:rPr lang="ru-RU" dirty="0" err="1"/>
              <a:t>prompt</a:t>
            </a:r>
            <a:r>
              <a:rPr lang="ru-RU" dirty="0"/>
              <a:t> попадают только релевантные куски. Меньше шума — выше точность ответа.</a:t>
            </a:r>
          </a:p>
          <a:p>
            <a:r>
              <a:rPr lang="ru-RU" b="1" dirty="0"/>
              <a:t>Экономия </a:t>
            </a:r>
            <a:r>
              <a:rPr lang="ru-RU" b="1" dirty="0" err="1"/>
              <a:t>токенов</a:t>
            </a:r>
            <a:r>
              <a:rPr lang="ru-RU" b="1" dirty="0"/>
              <a:t> и бюджета. </a:t>
            </a:r>
            <a:r>
              <a:rPr lang="ru-RU" dirty="0" err="1"/>
              <a:t>Чанки</a:t>
            </a:r>
            <a:r>
              <a:rPr lang="ru-RU" dirty="0"/>
              <a:t> короче исходных файлов, значит запрос дешевле. Плюс мы избегаем дорогого </a:t>
            </a:r>
            <a:r>
              <a:rPr lang="ru-RU" dirty="0" err="1"/>
              <a:t>дообучения</a:t>
            </a:r>
            <a:r>
              <a:rPr lang="ru-RU" dirty="0"/>
              <a:t> модели.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768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1003</Words>
  <Application>Microsoft Office PowerPoint</Application>
  <PresentationFormat>Широкоэкранный</PresentationFormat>
  <Paragraphs>39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Архитектура Retrieval-Augmented Generation (RAG) </vt:lpstr>
      <vt:lpstr>что такое Retrieval-Augmented Generation (RAG),</vt:lpstr>
      <vt:lpstr>что такое Retrieval-Augmented Generation (RAG),</vt:lpstr>
      <vt:lpstr>почему такая архитектура необходима</vt:lpstr>
      <vt:lpstr>почему такая архитектура необходима</vt:lpstr>
      <vt:lpstr>из каких этапов состоит система</vt:lpstr>
      <vt:lpstr>Ретривер</vt:lpstr>
      <vt:lpstr>Генератор</vt:lpstr>
      <vt:lpstr>из каких этапов состоит система (схема)</vt:lpstr>
      <vt:lpstr>из каких этапов состоит система</vt:lpstr>
      <vt:lpstr>какие инженерные ограничения она решает</vt:lpstr>
      <vt:lpstr>какие инженерные ограничения она решает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Retrieval-Augmented Generation (RAG)</dc:title>
  <dc:creator>Студенческая</dc:creator>
  <cp:lastModifiedBy>Студенческая</cp:lastModifiedBy>
  <cp:revision>5</cp:revision>
  <dcterms:created xsi:type="dcterms:W3CDTF">2026-02-11T11:30:04Z</dcterms:created>
  <dcterms:modified xsi:type="dcterms:W3CDTF">2026-02-11T12:05:18Z</dcterms:modified>
</cp:coreProperties>
</file>